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Arial"/>
              </a:rPr>
              <a:t>EVAL-01 a EVAL-05 (1,00 = 100%)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Resultado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3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09F3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Schema válido</c:v>
                  </c:pt>
                  <c:pt idx="1">
                    <c:v>Campos corretos</c:v>
                  </c:pt>
                  <c:pt idx="2">
                    <c:v>Evidência na página</c:v>
                  </c:pt>
                  <c:pt idx="3">
                    <c:v>Comparação (gab. v1.0)</c:v>
                  </c:pt>
                  <c:pt idx="4">
                    <c:v>Comparação (gab. v1.1)</c:v>
                  </c:pt>
                  <c:pt idx="5">
                    <c:v>Proxy de alucinação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0.8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F23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32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do InsurMinds_PROTETOR, plataforma que lê, compara e explica apólices D&amp;O com IA generativa. Mensagem central: o sistema automatiza a leitura e a comparação, mostra a página de cada evidência e deixa a decisão ao especialista.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desafio não é só ler: é alinhar conceitos entre seguradoras que usam nomes e estruturas diferentes, e manter cada conclusão rastreável. Os números vêm dos documentos usados no projeto: Chubb com 70 páginas, Sompo com 49 e Chubb PME com 254; no run de referência, o sistema extraiu 94 itens da Chubb e 66 da Sompo.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verbos resumem o produto. Ler: inclusive documentos digitalizados. Comparar: por conceito, não por nome. Explicar: síntese com evidência por página. O tempo de cerca de 3 minutos foi medido nos runs LIVE com Chubb × Sompo.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princípio central: o Harness controla estados, retries, escopo e persistência; os agentes só executam a sua função. Isso torna o sistema previsível e testável sem API: são 98 testes automatizados. Os blocos em lilás usam IA generativa.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agente tem entrada e saída tipadas. Quatro etapas do fluxo usam IA generativa (A2 no OCR, A3, A5 e A6), além da Consulta. Todas passam por contratos Pydantic e guardrails no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confiança vem do código, não só do prompt. O exemplo à direita aconteceu num run LIVE com a Chubb PME: o ciclo de validação e nova tentativa corrigiu o valor sozinho.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entra a demonstração ao vivo ou o vídeo. Sugestão de roteiro: abrir o run Chubb × Sompo pelo modo apresentação, mostrar a síntese, abrir uma evidência e fazer uma pergunta na Consulta.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campos que as condições gerais delegam à Especificação ficaram vazios, como no gabarito: o modelo não inventou valores. Na comparação, a v1.0 anotava exclusões pela presença do tema; o sistema apontou diferenças de alcance (ambiental e cibernética), que o grupo conferiu nas páginas 42, 51–55, 65 e 17. O gabarito v1.1 registra isso, e mostramos as duas versões.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decisão arquitetural foi motivada por um problema medido. O schema estrito eliminou os erros de formato; a taxonomia resolveu o fato de a Chubb vir em inglês e a Sompo em português; a síntese generativa, limitada aos itens do A5, ficou curta e verificável.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testes de robustez usam documentos de outros ramos e uma apólice sintética com gabarito de valores, porque as condições gerais D&amp;O não têm limites em reais. O OCR foi testado gerando uma versão só imagem da mesma apólice: identificação, vigência, limites e franquias bateram com a versão nativa.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PRODEMGE, o sistema leu um contrato de 2020 que era só imagem e identificou a troca de seguradora, o aumento do limite e a mudança de valor. Na Invepar, captou a troca Allianz → Berkley nas demonstrações e expôs uma divergência entre a tabela e a nota de rodapé da própria DFP 2024 — e também as limitações do schema com documentos que listam várias apólices.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Transparência sobre limites é parte da proposta: cada limitação aparece em aviso na própria interface. Os próximos passos atacam diretamente essas limitações.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Fechamento: reforçar a mensagem central e o link do repositório, que tem README, relatório técnico, testes e os datasets com fontes.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eorastreador/InsurMinds_Projeto_Final_PROTETOR" TargetMode="External"/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1005840" cy="1005840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1658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InsurMinds_PROTETOR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063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comparação de apólices D&amp;O com IA generativa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703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09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Lê, compara e explica — com a página de cada evidência. A decisão continua humana.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120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 · I2A2 — Instituto de Inteligência Artificial Aplicada · 2026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Gp_Protetor: Ricardo Croce (representante), José Carlos dos Passos, Renato Sant Anna, Tiago Del Rio, Juliano Silva Ignacio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problema: comparar apólices D&amp;O leva horas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760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longos, em linguagem jurídica, com estrutura própria de cada seguradora.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conceito aparece com nomes diferentes — até em idiomas diferentes.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Limites, franquias e vigência costumam estar na Especificação, não nas condições gerais.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afirmação precisa ser verificável no texto original.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766560" y="1463040"/>
            <a:ext cx="4873752" cy="1280160"/>
          </a:xfrm>
          <a:prstGeom prst="roundRect">
            <a:avLst>
              <a:gd name="adj" fmla="val 8571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995160" y="16002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9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49–254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16002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nos documentos testados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766560" y="2971800"/>
            <a:ext cx="4873752" cy="1280160"/>
          </a:xfrm>
          <a:prstGeom prst="roundRect">
            <a:avLst>
              <a:gd name="adj" fmla="val 8571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995160" y="31089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9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9052560" y="310896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coberturas, exclusões e cláusulas extraídas no par Chubb × Sompo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766560" y="4480560"/>
            <a:ext cx="4873752" cy="1280160"/>
          </a:xfrm>
          <a:prstGeom prst="roundRect">
            <a:avLst>
              <a:gd name="adj" fmla="val 8571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995160" y="46177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9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horas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9052560" y="461772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leitura especializada por comparação manual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InsurMinds_PROTETOR · Gp_Protetor · I2A2 2026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solução: o PROTETOR lê, compara e explica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197739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6974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2004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nativo, PDF digitalizado ou imagem. OCR com IA onde falta texto. Cada página marcada para citação.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425696" y="150876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45736" y="1783080"/>
            <a:ext cx="777240" cy="77724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0046" y="1977390"/>
            <a:ext cx="388620" cy="3886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45736" y="26974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4745736" y="32004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Pareia coberturas, exclusões e cláusulas por conceito D&amp;O, mesmo com nomes e idiomas diferentes. A IA julga o conteúdo de cada par.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302752" y="150876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622792" y="1783080"/>
            <a:ext cx="777240" cy="77724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7102" y="1977390"/>
            <a:ext cx="388620" cy="3886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622792" y="26974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Explica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8622792" y="32004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executiva com as diferenças mais relevantes e a página de cada uma. Sem dizer qual apólice é melhor.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548640" y="507492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868680" y="512064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9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 min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comparar dois documentos de 50–70 páginas, com progresso por agente, downloads (MD, PDF, CSV) e consulta ao acervo.</a:t>
            </a:r>
            <a:endParaRPr lang="en-US" sz="26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InsurMinds_PROTETOR · Gp_Protetor · I2A2 2026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Arquitetura: o Harness controla, os agentes executam</a:t>
            </a:r>
            <a:endParaRPr lang="en-US" sz="3200" dirty="0"/>
          </a:p>
        </p:txBody>
      </p:sp>
      <p:pic>
        <p:nvPicPr>
          <p:cNvPr id="3" name="Image 0" descr="Diagrama: upload, Harness com agentes A1 a A6, SQLite, OpenAI API e interface Streaml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412182" cy="4892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326582" y="1417320"/>
            <a:ext cx="331647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de estados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Transições explícitas; nenhum agente decide a sequência.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8326582" y="2606040"/>
            <a:ext cx="331647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tipados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entre agentes; adaptadores neutros de provedor.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326582" y="3794760"/>
            <a:ext cx="331647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onde agrega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OCR, extração, julgamento, síntese e consulta (em lilás).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326582" y="4983480"/>
            <a:ext cx="331647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auditável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por agente, SQLite e aba Auditoria da IA.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InsurMinds_PROTETOR · Gp_Protetor · I2A2 2026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Sete agentes especializados, quatro com IA generativa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45920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8059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377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A1 Intake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7432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formato, tamanho e metadados.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28416" y="141732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EFE8F8"/>
          </a:solidFill>
          <a:ln w="12700">
            <a:solidFill>
              <a:srgbClr val="EFE8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57016" y="1645920"/>
            <a:ext cx="640080" cy="640080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036" y="180594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288536" y="1783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3557016" y="2377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 Extraction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557016" y="27432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por página; OCR multimodal nos digitalizados.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08192" y="141732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EFE8F8"/>
          </a:solidFill>
          <a:ln w="12700">
            <a:solidFill>
              <a:srgbClr val="EFE8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36792" y="1645920"/>
            <a:ext cx="640080" cy="640080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812" y="18059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068312" y="1783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6336792" y="2377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A3 Análise D&amp;O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6336792" y="27432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 o PolicySchema com schema estrito e evidências.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8887968" y="141732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116568" y="1645920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6588" y="180594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116568" y="2377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A4 Validation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9116568" y="27432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e guardrails; falha gera nova tentativa.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548640" y="384048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EFE8F8"/>
          </a:solidFill>
          <a:ln w="12700">
            <a:solidFill>
              <a:srgbClr val="EFE8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77240" y="4069080"/>
            <a:ext cx="640080" cy="640080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422910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508760" y="4206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777240" y="4800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A5 Comparison</a:t>
            </a:r>
            <a:endParaRPr lang="en-US" sz="1700" dirty="0"/>
          </a:p>
        </p:txBody>
      </p:sp>
      <p:sp>
        <p:nvSpPr>
          <p:cNvPr id="30" name="Text 23"/>
          <p:cNvSpPr txBox="1"/>
          <p:nvPr/>
        </p:nvSpPr>
        <p:spPr>
          <a:xfrm>
            <a:off x="777240" y="51663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Pareia por conceito D&amp;O; a IA julga os pares.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3328416" y="384048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EFE8F8"/>
          </a:solidFill>
          <a:ln w="12700">
            <a:solidFill>
              <a:srgbClr val="EFE8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557016" y="4069080"/>
            <a:ext cx="640080" cy="640080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7036" y="4229100"/>
            <a:ext cx="320040" cy="32004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4288536" y="4206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</a:t>
            </a:r>
            <a:endParaRPr lang="en-US" sz="1100" dirty="0"/>
          </a:p>
        </p:txBody>
      </p:sp>
      <p:sp>
        <p:nvSpPr>
          <p:cNvPr id="35" name="Text 27"/>
          <p:cNvSpPr txBox="1"/>
          <p:nvPr/>
        </p:nvSpPr>
        <p:spPr>
          <a:xfrm>
            <a:off x="3557016" y="4800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A6 Synthesis</a:t>
            </a:r>
            <a:endParaRPr lang="en-US" sz="1700" dirty="0"/>
          </a:p>
        </p:txBody>
      </p:sp>
      <p:sp>
        <p:nvSpPr>
          <p:cNvPr id="36" name="Text 28"/>
          <p:cNvSpPr txBox="1"/>
          <p:nvPr/>
        </p:nvSpPr>
        <p:spPr>
          <a:xfrm>
            <a:off x="3557016" y="51663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só com itens do A5; páginas anexadas.</a:t>
            </a:r>
            <a:endParaRPr lang="en-US" sz="1300" dirty="0"/>
          </a:p>
        </p:txBody>
      </p:sp>
      <p:sp>
        <p:nvSpPr>
          <p:cNvPr id="37" name="Shape 29"/>
          <p:cNvSpPr/>
          <p:nvPr/>
        </p:nvSpPr>
        <p:spPr>
          <a:xfrm>
            <a:off x="6108192" y="384048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EFE8F8"/>
          </a:solidFill>
          <a:ln w="12700">
            <a:solidFill>
              <a:srgbClr val="EFE8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6336792" y="4069080"/>
            <a:ext cx="640080" cy="640080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6812" y="4229100"/>
            <a:ext cx="320040" cy="320040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7068312" y="4206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</a:t>
            </a:r>
            <a:endParaRPr lang="en-US" sz="1100" dirty="0"/>
          </a:p>
        </p:txBody>
      </p:sp>
      <p:sp>
        <p:nvSpPr>
          <p:cNvPr id="41" name="Text 32"/>
          <p:cNvSpPr txBox="1"/>
          <p:nvPr/>
        </p:nvSpPr>
        <p:spPr>
          <a:xfrm>
            <a:off x="6336792" y="4800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</a:t>
            </a:r>
            <a:endParaRPr lang="en-US" sz="1700" dirty="0"/>
          </a:p>
        </p:txBody>
      </p:sp>
      <p:sp>
        <p:nvSpPr>
          <p:cNvPr id="42" name="Text 33"/>
          <p:cNvSpPr txBox="1"/>
          <p:nvPr/>
        </p:nvSpPr>
        <p:spPr>
          <a:xfrm>
            <a:off x="6336792" y="51663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no acervo e perguntas com citação de página.</a:t>
            </a:r>
            <a:endParaRPr lang="en-US" sz="1300" dirty="0"/>
          </a:p>
        </p:txBody>
      </p:sp>
      <p:sp>
        <p:nvSpPr>
          <p:cNvPr id="43" name="Shape 34"/>
          <p:cNvSpPr/>
          <p:nvPr/>
        </p:nvSpPr>
        <p:spPr>
          <a:xfrm>
            <a:off x="8887968" y="384048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4" name="Shape 35"/>
          <p:cNvSpPr/>
          <p:nvPr/>
        </p:nvSpPr>
        <p:spPr>
          <a:xfrm>
            <a:off x="9116568" y="4069080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76588" y="4229100"/>
            <a:ext cx="320040" cy="320040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9116568" y="4800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Harness</a:t>
            </a:r>
            <a:endParaRPr lang="en-US" sz="1700" dirty="0"/>
          </a:p>
        </p:txBody>
      </p:sp>
      <p:sp>
        <p:nvSpPr>
          <p:cNvPr id="47" name="Text 37"/>
          <p:cNvSpPr txBox="1"/>
          <p:nvPr/>
        </p:nvSpPr>
        <p:spPr>
          <a:xfrm>
            <a:off x="9116568" y="51663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Estados, retries, escopo, progresso e trace.</a:t>
            </a:r>
            <a:endParaRPr lang="en-US" sz="1300" dirty="0"/>
          </a:p>
        </p:txBody>
      </p:sp>
      <p:sp>
        <p:nvSpPr>
          <p:cNvPr id="48" name="Text 3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InsurMinds_PROTETOR · Gp_Protetor · I2A2 2026</a:t>
            </a:r>
            <a:endParaRPr lang="en-US" sz="1000" dirty="0"/>
          </a:p>
        </p:txBody>
      </p:sp>
      <p:sp>
        <p:nvSpPr>
          <p:cNvPr id="49" name="Text 39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generativa sob controle: guardrails no código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58368" cy="658368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81912"/>
            <a:ext cx="329184" cy="3291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3716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estrito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responde no formato do PolicySchema; o A4 valida e é a autoridade final.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2350008"/>
            <a:ext cx="658368" cy="658368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14600"/>
            <a:ext cx="329184" cy="3291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17320" y="2304288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tentativa com os erros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validação falha, o A3 recebe a lista de erros e tenta de novo (até 2×).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3282696"/>
            <a:ext cx="658368" cy="658368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447288"/>
            <a:ext cx="329184" cy="32918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17320" y="3236976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por página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afirmação cita página e trecho; citações fora das páginas lidas são descartadas.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48640" y="4215384"/>
            <a:ext cx="658368" cy="658368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379976"/>
            <a:ext cx="329184" cy="32918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417320" y="4169664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veredito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"Melhor", "pior" e "recomendada" são bloqueados em A5, A6 e Consulta.</a:t>
            </a:r>
            <a:endParaRPr lang="en-US" sz="1700" dirty="0"/>
          </a:p>
        </p:txBody>
      </p:sp>
      <p:sp>
        <p:nvSpPr>
          <p:cNvPr id="15" name="Shape 9"/>
          <p:cNvSpPr/>
          <p:nvPr/>
        </p:nvSpPr>
        <p:spPr>
          <a:xfrm>
            <a:off x="548640" y="5148072"/>
            <a:ext cx="658368" cy="658368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5312664"/>
            <a:ext cx="329184" cy="32918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417320" y="5102352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sinalizado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de D&amp;O, a análise é marcada como genérica; páginas omitidas são sempre avisadas.</a:t>
            </a:r>
            <a:endParaRPr lang="en-US" sz="1700" dirty="0"/>
          </a:p>
        </p:txBody>
      </p:sp>
      <p:sp>
        <p:nvSpPr>
          <p:cNvPr id="18" name="Shape 11"/>
          <p:cNvSpPr/>
          <p:nvPr/>
        </p:nvSpPr>
        <p:spPr>
          <a:xfrm>
            <a:off x="8275320" y="1417320"/>
            <a:ext cx="3364992" cy="4526280"/>
          </a:xfrm>
          <a:prstGeom prst="roundRect">
            <a:avLst>
              <a:gd name="adj" fmla="val 326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2"/>
          <p:cNvSpPr txBox="1"/>
          <p:nvPr/>
        </p:nvSpPr>
        <p:spPr>
          <a:xfrm>
            <a:off x="8549640" y="1645920"/>
            <a:ext cx="2834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9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real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escreveu "5% do LMI" num campo numérico.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A4 rejeitou, devolveu o erro ao A3 e a segunda tentativa foi aceita — sem intervenção humana e registrado no trace.</a:t>
            </a:r>
            <a:endParaRPr lang="en-US" sz="1400" dirty="0"/>
          </a:p>
        </p:txBody>
      </p:sp>
      <p:sp>
        <p:nvSpPr>
          <p:cNvPr id="20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InsurMinds_PROTETOR · Gp_Protetor · I2A2 2026</a:t>
            </a:r>
            <a:endParaRPr lang="en-US" sz="1000" dirty="0"/>
          </a:p>
        </p:txBody>
      </p:sp>
      <p:sp>
        <p:nvSpPr>
          <p:cNvPr id="21" name="Text 1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experiência do analista, do upload à consulta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43000" y="1737360"/>
            <a:ext cx="822960" cy="8229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4300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0" y="2148840"/>
            <a:ext cx="1399032" cy="0"/>
          </a:xfrm>
          <a:prstGeom prst="line">
            <a:avLst/>
          </a:prstGeom>
          <a:noFill/>
          <a:ln w="19050">
            <a:solidFill>
              <a:srgbClr val="5B6573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548640" y="2743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004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ou imagem; a tela mostra páginas, tamanho e tempo estimado.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56432" y="1737360"/>
            <a:ext cx="822960" cy="8229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56432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325112" y="2148840"/>
            <a:ext cx="1399032" cy="0"/>
          </a:xfrm>
          <a:prstGeom prst="line">
            <a:avLst/>
          </a:prstGeom>
          <a:noFill/>
          <a:ln w="19050">
            <a:solidFill>
              <a:srgbClr val="5B6573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862072" y="2743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Progresso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2862072" y="32004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agente aparece em tempo real, com estimativa por etapa.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769864" y="1737360"/>
            <a:ext cx="822960" cy="822960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69864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638544" y="2148840"/>
            <a:ext cx="1399032" cy="0"/>
          </a:xfrm>
          <a:prstGeom prst="line">
            <a:avLst/>
          </a:prstGeom>
          <a:noFill/>
          <a:ln w="19050">
            <a:solidFill>
              <a:srgbClr val="5B6573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5175504" y="2743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5175504" y="32004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executiva com páginas; download em MD e PDF.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83296" y="1737360"/>
            <a:ext cx="822960" cy="8229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83296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8951976" y="2148840"/>
            <a:ext cx="1399032" cy="0"/>
          </a:xfrm>
          <a:prstGeom prst="line">
            <a:avLst/>
          </a:prstGeom>
          <a:noFill/>
          <a:ln w="19050">
            <a:solidFill>
              <a:srgbClr val="5B6573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7488936" y="2743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Evidências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488936" y="32004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Trecho de A e de B lado a lado, com página, para cada diferença.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396728" y="1737360"/>
            <a:ext cx="822960" cy="8229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396728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9802368" y="2743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9802368" y="32004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de temas no acervo e perguntas com resposta citada.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4800600"/>
            <a:ext cx="11094415" cy="1143000"/>
          </a:xfrm>
          <a:prstGeom prst="roundRect">
            <a:avLst>
              <a:gd name="adj" fmla="val 9600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2960" y="5001768"/>
            <a:ext cx="731520" cy="731520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5184648"/>
            <a:ext cx="365760" cy="365760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1783080" y="4846320"/>
            <a:ext cx="95856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apresentação: </a:t>
            </a:r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reabre runs LIVE gravados sem chamar a API — a demonstração não depende de rede. Abas separam a experiência do analista da Auditoria da IA (trace, métricas, JSON).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InsurMinds_PROTETOR · Gp_Protetor · I2A2 2026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no Golden Dataset D&amp;O (Chubb × Sompo)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6949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1417320"/>
            <a:ext cx="3776472" cy="1234440"/>
          </a:xfrm>
          <a:prstGeom prst="roundRect">
            <a:avLst>
              <a:gd name="adj" fmla="val 8889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092440" y="150876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12/12 · 11/11</a:t>
            </a:r>
            <a:endParaRPr lang="en-US" sz="2600" dirty="0"/>
          </a:p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anotados extraídos corretamente (Chubb · Sompo)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7863840" y="2880360"/>
            <a:ext cx="3776472" cy="1234440"/>
          </a:xfrm>
          <a:prstGeom prst="roundRect">
            <a:avLst>
              <a:gd name="adj" fmla="val 8889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092440" y="297180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6/6 · 5/5</a:t>
            </a:r>
            <a:endParaRPr lang="en-US" sz="2600" dirty="0"/>
          </a:p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evidências citando a página anotada pelo especialista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7863840" y="4343400"/>
            <a:ext cx="3776472" cy="1234440"/>
          </a:xfrm>
          <a:prstGeom prst="roundRect">
            <a:avLst>
              <a:gd name="adj" fmla="val 8889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092440" y="443484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0,80 → 1,00</a:t>
            </a:r>
            <a:endParaRPr lang="en-US" sz="2600" dirty="0"/>
          </a:p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comparação: divergências da v1.0 confirmadas no texto e revisadas na v1.1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035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 pequena (2 documentos, 10 itens de comparação); as duas versões do gabarito são reportadas.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InsurMinds_PROTETOR · Gp_Protetor · I2A2 2026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Decisões que mudaram o resultado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Extração LIVE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834640" y="1463040"/>
            <a:ext cx="3749040" cy="1234440"/>
          </a:xfrm>
          <a:prstGeom prst="roundRect">
            <a:avLst>
              <a:gd name="adj" fmla="val 8889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3063240" y="153619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65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erros</a:t>
            </a:r>
            <a:endParaRPr lang="en-US" sz="3000" dirty="0"/>
          </a:p>
          <a:p>
            <a:pPr indent="0" marL="0">
              <a:buNone/>
            </a:pPr>
            <a:r>
              <a:rPr lang="en-US" sz="1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schema no 1º teste</a:t>
            </a:r>
            <a:endParaRPr lang="en-US" sz="3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1874520"/>
            <a:ext cx="411480" cy="411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52360" y="1463040"/>
            <a:ext cx="4187952" cy="1234440"/>
          </a:xfrm>
          <a:prstGeom prst="roundRect">
            <a:avLst>
              <a:gd name="adj" fmla="val 888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680960" y="1536192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9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1ª tentativa</a:t>
            </a:r>
            <a:endParaRPr lang="en-US" sz="30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 com schema estrito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97180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834640" y="2971800"/>
            <a:ext cx="3749040" cy="1234440"/>
          </a:xfrm>
          <a:prstGeom prst="roundRect">
            <a:avLst>
              <a:gd name="adj" fmla="val 8889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063240" y="304495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65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0,50</a:t>
            </a:r>
            <a:endParaRPr lang="en-US" sz="3000" dirty="0"/>
          </a:p>
          <a:p>
            <a:pPr indent="0" marL="0">
              <a:buNone/>
            </a:pPr>
            <a:r>
              <a:rPr lang="en-US" sz="1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pareando pelo nome dado pelo LLM</a:t>
            </a:r>
            <a:endParaRPr lang="en-US" sz="3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3383280"/>
            <a:ext cx="411480" cy="4114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452360" y="2971800"/>
            <a:ext cx="4187952" cy="1234440"/>
          </a:xfrm>
          <a:prstGeom prst="roundRect">
            <a:avLst>
              <a:gd name="adj" fmla="val 888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7680960" y="3044952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9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0,80</a:t>
            </a:r>
            <a:endParaRPr lang="en-US" sz="30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taxonomia D&amp;O + juiz semântico</a:t>
            </a:r>
            <a:endParaRPr lang="en-US" sz="30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4805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2834640" y="4480560"/>
            <a:ext cx="3749040" cy="1234440"/>
          </a:xfrm>
          <a:prstGeom prst="roundRect">
            <a:avLst>
              <a:gd name="adj" fmla="val 8889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3063240" y="455371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65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 mil</a:t>
            </a:r>
            <a:endParaRPr lang="en-US" sz="3000" dirty="0"/>
          </a:p>
          <a:p>
            <a:pPr indent="0" marL="0">
              <a:buNone/>
            </a:pPr>
            <a:r>
              <a:rPr lang="en-US" sz="1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caracteres, texto técnico</a:t>
            </a:r>
            <a:endParaRPr lang="en-US" sz="3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4892040"/>
            <a:ext cx="411480" cy="41148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452360" y="4480560"/>
            <a:ext cx="4187952" cy="1234440"/>
          </a:xfrm>
          <a:prstGeom prst="roundRect">
            <a:avLst>
              <a:gd name="adj" fmla="val 888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7680960" y="4553712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9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 mil</a:t>
            </a:r>
            <a:endParaRPr lang="en-US" sz="30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caracteres, gerada por IA com páginas</a:t>
            </a:r>
            <a:endParaRPr lang="en-US" sz="30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InsurMinds_PROTETOR · Gp_Protetor · I2A2 2026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Robustez: outros ramos, 254 páginas e OCR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7635240"/>
                <a:gridCol w="1737360"/>
                <a:gridCol w="171907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Cenário LIVE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Verificações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Empresarial PME (254 págs.) × Residencial — limite de tamanho, ramos diferentes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8/8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min 05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Residencial × apólice sintética — limites e franquias em R$ contra gabarito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19/19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min 17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Seguro Garantia × Vida — controle negativo de escopo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7/7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min 43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só imagem × PDF nativo da mesma apólice — OCR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33/33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min 40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Imagem PNG × PDF nativo — OCR de imagem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aprovado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257800"/>
            <a:ext cx="640080" cy="64008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5417820"/>
            <a:ext cx="320040" cy="3200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17320" y="52120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cenários terminaram sem falha. Fora de D&amp;O, o sistema sinaliza escopo genérico; acima de 300 mil caracteres, declara as páginas omitidas.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InsurMinds_PROTETOR · Gp_Protetor · I2A2 2026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caso: a mesma organização ao longo do tempo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45920"/>
            <a:ext cx="685800" cy="6858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81737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27632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PRODEMGE · contratos de D&amp;O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(digitalizado) × 2025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97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Seguradora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560320" y="26974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Ezze → Austral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3558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máximo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560320" y="335584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R$ 30 mi → R$ 40 mi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01421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do contrato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560320" y="401421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R$ 74 mil → R$ 35 mil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67258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560320" y="467258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páginas em 1 min 28 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53949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conferidos nos documentos originais.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291072" y="141732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565392" y="1645920"/>
            <a:ext cx="685800" cy="6858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842" y="1817370"/>
            <a:ext cx="342900" cy="3429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434072" y="1627632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Invepar · demonstrações financeiras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DFP 2024 × ITR 2025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6565392" y="2697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Seguradora D&amp;O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8302752" y="26974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Allianz → Berkley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6565392" y="33558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8302752" y="335584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R$ 100 mi mantido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6565392" y="401421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8302752" y="401421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× nota divergem na DFP 2024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6565392" y="467258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Limitação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8302752" y="467258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em R$ mil não convertidos</a:t>
            </a:r>
            <a:endParaRPr lang="en-US" sz="1600" dirty="0"/>
          </a:p>
        </p:txBody>
      </p:sp>
      <p:sp>
        <p:nvSpPr>
          <p:cNvPr id="28" name="Text 24"/>
          <p:cNvSpPr txBox="1"/>
          <p:nvPr/>
        </p:nvSpPr>
        <p:spPr>
          <a:xfrm>
            <a:off x="6565392" y="53949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secundária: bom teste de sensibilidade e de limites.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InsurMinds_PROTETOR · Gp_Protetor · I2A2 2026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ainda não resolvemos — e para onde evoluir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45920"/>
            <a:ext cx="685800" cy="685800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81737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4592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conhecidas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60320"/>
            <a:ext cx="4800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Dataset pequeno: 2 documentos anotados.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LLM varia entre execuções (quantidade de itens).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documento = uma apólice; unidades em R$ mil.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Acima de 300 mil caracteres, há omissão (avisada).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modo LIVE, os documentos vão para a API.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91072" y="141732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EFE8F8"/>
          </a:solidFill>
          <a:ln w="12700">
            <a:solidFill>
              <a:srgbClr val="EFE8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65392" y="1645920"/>
            <a:ext cx="685800" cy="685800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842" y="181737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34072" y="164592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565392" y="2560320"/>
            <a:ext cx="4800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o gabarito (Fator, AXA e HDI já catalogados).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Unir condições gerais e Especificação da mesma apólice.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com várias apólices e normalização de unidades.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semântica no acervo e comparação de N apólices.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do especialista realimentando o gabarito.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InsurMinds_PROTETOR · Gp_Protetor · I2A2 2026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914400" cy="914400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1430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PROTETOR lê, compara e explica.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834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09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decisão continua humana — agora com as evidências na mão.</a:t>
            </a:r>
            <a:endParaRPr lang="en-US" sz="2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977640"/>
            <a:ext cx="411480" cy="411480"/>
          </a:xfrm>
          <a:prstGeom prst="rect">
            <a:avLst/>
          </a:prstGeom>
        </p:spPr>
      </p:pic>
      <p:sp>
        <p:nvSpPr>
          <p:cNvPr id="7" name="Text 3">
            <a:hlinkClick r:id="rId3" tooltip=""/>
          </p:cNvPr>
          <p:cNvSpPr txBox="1"/>
          <p:nvPr/>
        </p:nvSpPr>
        <p:spPr>
          <a:xfrm>
            <a:off x="1097280" y="39776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github.com/Georastreador/InsurMinds_Projeto_Final_PROTETOR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937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Gp_Protetor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Ricardo Croce · José Carlos dos Passos · Renato Sant Anna · Tiago Del Rio · Juliano Silva Ignacio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8899855" y="5806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9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InsurMinds_PROTETOR — Projeto Final I2A2</dc:title>
  <dc:subject>PptxGenJS Presentation</dc:subject>
  <dc:creator>Gp_Protetor</dc:creator>
  <cp:lastModifiedBy>Gp_Protetor</cp:lastModifiedBy>
  <cp:revision>1</cp:revision>
  <dcterms:created xsi:type="dcterms:W3CDTF">2026-09-30T22:36:34Z</dcterms:created>
  <dcterms:modified xsi:type="dcterms:W3CDTF">2026-09-30T22:36:34Z</dcterms:modified>
</cp:coreProperties>
</file>