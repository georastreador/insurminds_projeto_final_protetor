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192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14213D"/>
                </a:solidFill>
                <a:latin typeface="Arial"/>
              </a:rPr>
              <a:t>EVAL-01 a EVAL-05 (1,00 = 100%)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92F-0447-8699-001AF5E371AC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92F-0447-8699-001AF5E371AC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92F-0447-8699-001AF5E371AC}"/>
              </c:ext>
            </c:extLst>
          </c:dPt>
          <c:dPt>
            <c:idx val="3"/>
            <c:invertIfNegative val="0"/>
            <c:bubble3D val="0"/>
            <c:spPr>
              <a:solidFill>
                <a:srgbClr val="E09F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92F-0447-8699-001AF5E371AC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92F-0447-8699-001AF5E371AC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92F-0447-8699-001AF5E371AC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328"/>
                    </a:solidFill>
                    <a:latin typeface="Arial"/>
                  </a:defRPr>
                </a:pPr>
                <a:endParaRPr lang="en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Schema válido</c:v>
                </c:pt>
                <c:pt idx="1">
                  <c:v>Campos corretos</c:v>
                </c:pt>
                <c:pt idx="2">
                  <c:v>Evidência na página</c:v>
                </c:pt>
                <c:pt idx="3">
                  <c:v>Comparação (gab. v1.0)</c:v>
                </c:pt>
                <c:pt idx="4">
                  <c:v>Comparação (gab. v1.1)</c:v>
                </c:pt>
                <c:pt idx="5">
                  <c:v>Proxy de alucinação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0.8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592F-0447-8699-001AF5E371A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499999999999999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3341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InsurMinds_PROTETOR, plataforma que lê, compara e explica apólices D&amp;O com IA generativa. Mensagem central: o sistema automatiza a leitura e a comparação, mostra a página de cada evidência e deixa a decisão ao especialista.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desafio não é só ler: é alinhar conceitos entre seguradoras que usam nomes e estruturas diferentes, e manter cada conclusão rastreável. Os números vêm dos documentos usados no projeto: Chubb com 70 páginas, Sompo com 49 e Chubb PME com 254; no run de referência, o sistema extraiu 94 itens da Chubb e 66 da Sompo.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verbos resumem o produto. Ler: inclusive documentos digitalizados. Comparar: por conceito, não por nome. Explicar: síntese com evidência por página. O tempo de cerca de 3 minutos foi medido nos runs LIVE com Chubb × Sompo.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princípio central: o Harness controla estados, retries, escopo e persistência; os agentes só executam a sua função. Isso torna o sistema previsível e testável sem API: são 98 testes automatizados. Os blocos em lilás usam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agente tem entrada e saída tipadas. Quatro etapas do fluxo usam IA generativa (A2 no OCR, A3, A5 e A6), além da Consulta. Todas passam por contratos Pydantic e guardrails no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confiança vem do código, não só do prompt. O exemplo à direita aconteceu num run LIVE com a Chubb PME: o ciclo de validação e nova tentativa corrigiu o valor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demonstração ao vivo ou o vídeo. Sugestão de roteiro: abrir o run Chubb × Sompo pelo modo apresentação, mostrar a síntese, abrir uma evidência e fazer uma pergunta na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que as condições gerais delegam à Especificação ficaram vazios, como no gabarito: o modelo não inventou valores. Na comparação, a v1.0 anotava exclusões pela presença do tema; o sistema apontou diferenças de alcance (ambiental e cibernética), que o grupo conferiu nas páginas 42, 51–55, 65 e 17. O gabarito v1.1 registra isso, e mostramos as duas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decisão arquitetural foi motivada por um problema medido. O schema estrito eliminou os erros de formato; a taxonomia resolveu o fato de a Chubb vir em inglês e a Sompo em português; a síntese generativa, limitada aos itens do A5, ficou curta e verificável.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de robustez usam documentos de outros ramos e uma apólice sintética com gabarito de valores, porque as condições gerais D&amp;O não têm limites em reais. O OCR foi testado gerando uma versão só imagem da mesma apólice: identificação, vigência, limites e franquias bateram com a versão nativa.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PRODEMGE, o sistema leu um contrato de 2020 que era só imagem e identificou a troca de seguradora, o aumento do limite e a mudança de valor. Na Invepar, captou a troca Allianz → Berkley nas demonstrações e expôs uma divergência entre a tabela e a nota de rodapé da própria DFP 2024 — e também as limitações do schema com documentos que listam várias apólices.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Transparência sobre limites é parte da proposta: cada limitação aparece em aviso na própria interface. Os próximos passos atacam diretamente essas limitações.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reforçar a mensagem central e o link do repositório, que tem README, relatório técnico, testes e os datasets com fontes.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Georastreador/InsurMinds_Projeto_Final_PROTETOR" TargetMode="Externa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1005840" cy="100584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11658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InsurMinds_PROTETOR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comparação de apólices D&amp;O com IA generativa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Lê, compara e explica — com a página de cada evidência. A decisão continua humana.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Final · I2A2 — Instituto de Inteligência Artificial Aplicada · 2026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Gp_Protetor: Ricardo Croce (Chefe), José Carlos dos Passos, Renato Sant Anna, Tiago Del Rio, Juliano Silva Ignacio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comparar apólices D&amp;O leva horas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760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longos, em linguagem jurídica, com estrutura própria de cada seguradora.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conceito aparece com nomes diferentes — até em idiomas diferentes.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franquias e vigência costumam estar na Especificação, não nas condições gerais.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precisa ser verificável no texto original.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766560" y="1463040"/>
            <a:ext cx="4873752" cy="128016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6995160" y="16002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49–254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052560" y="16002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nos documentos testados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0" y="2971800"/>
            <a:ext cx="4873752" cy="128016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6995160" y="310896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31089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coberturas, exclusões e cláusulas extraídas no par Chubb × Sompo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766560" y="4480560"/>
            <a:ext cx="4873752" cy="128016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6995160" y="4617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461772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leitura especializada por comparação manual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solução: o PROTETOR lê, compara e explica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4" name="Shape 2"/>
          <p:cNvSpPr/>
          <p:nvPr/>
        </p:nvSpPr>
        <p:spPr>
          <a:xfrm>
            <a:off x="868680" y="1783080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90" y="197739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nativo, PDF digitalizado ou imagem. OCR com IA onde falta texto. Cada página marcada para citação.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5696" y="150876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9" name="Shape 6"/>
          <p:cNvSpPr/>
          <p:nvPr/>
        </p:nvSpPr>
        <p:spPr>
          <a:xfrm>
            <a:off x="4745736" y="1783080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046" y="197739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45736" y="26974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745736" y="32004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Pareia coberturas, exclusões e cláusulas por conceito D&amp;O, mesmo com nomes e idiomas diferentes. A IA julga o conteúdo de cada par.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302752" y="150876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4" name="Shape 10"/>
          <p:cNvSpPr/>
          <p:nvPr/>
        </p:nvSpPr>
        <p:spPr>
          <a:xfrm>
            <a:off x="8622792" y="1783080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7102" y="197739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22792" y="26974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622792" y="32004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executiva com as diferenças mais relevantes e a página de cada uma. Sem dizer qual apólice é melhor.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9" name="Text 14"/>
          <p:cNvSpPr txBox="1"/>
          <p:nvPr/>
        </p:nvSpPr>
        <p:spPr>
          <a:xfrm>
            <a:off x="868680" y="512064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min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dois documentos de 50–70 páginas, com progresso por agente, downloads (MD, PDF, CSV) e consulta ao acervo.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Arquitetura: o Harness controla, os agentes executam</a:t>
            </a:r>
            <a:endParaRPr lang="en-US" sz="3200" dirty="0"/>
          </a:p>
        </p:txBody>
      </p:sp>
      <p:pic>
        <p:nvPicPr>
          <p:cNvPr id="3" name="Image 0" descr="Diagrama: upload, Harness com agentes A1 a A6, SQLite, OpenAI API e interface Streaml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12182" cy="4892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6582" y="141732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Transições explícitas; nenhum agente decide a sequência.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326582" y="260604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tipados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entre agentes; adaptadores neutros de provedor.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326582" y="379476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onde agrega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OCR, extração, julgamento, síntese e consulta (em lilás).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6582" y="498348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auditável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por agente, SQLite e aba Auditoria da IA.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agentes especializados, quatro com IA generativa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18059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 Intake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formato, tamanho e metadados.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28416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9" name="Shape 6"/>
          <p:cNvSpPr/>
          <p:nvPr/>
        </p:nvSpPr>
        <p:spPr>
          <a:xfrm>
            <a:off x="3557016" y="164592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036" y="18059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88536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557016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Extraction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57016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por página; OCR multimodal nos digitalizados.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08192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5" name="Shape 11"/>
          <p:cNvSpPr/>
          <p:nvPr/>
        </p:nvSpPr>
        <p:spPr>
          <a:xfrm>
            <a:off x="6336792" y="164592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8059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68312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Análise D&amp;O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6336792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 o PolicySchema com schema estrito e evidências.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8887968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21" name="Shape 16"/>
          <p:cNvSpPr/>
          <p:nvPr/>
        </p:nvSpPr>
        <p:spPr>
          <a:xfrm>
            <a:off x="9116568" y="16459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6588" y="180594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116568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 Validation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9116568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e guardrails; falha gera nova tentativa.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26" name="Shape 20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260" y="422910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508760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777240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A5 Comparison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777240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Pareia por conceito D&amp;O; a IA julga os pares.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3328416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32" name="Shape 25"/>
          <p:cNvSpPr/>
          <p:nvPr/>
        </p:nvSpPr>
        <p:spPr>
          <a:xfrm>
            <a:off x="3557016" y="406908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7036" y="4229100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288536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3557016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A6 Synthesis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3557016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só com itens do A5; páginas anexadas.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6108192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38" name="Shape 30"/>
          <p:cNvSpPr/>
          <p:nvPr/>
        </p:nvSpPr>
        <p:spPr>
          <a:xfrm>
            <a:off x="6336792" y="406908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6812" y="4229100"/>
            <a:ext cx="320040" cy="32004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068312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41" name="Text 32"/>
          <p:cNvSpPr txBox="1"/>
          <p:nvPr/>
        </p:nvSpPr>
        <p:spPr>
          <a:xfrm>
            <a:off x="6336792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</a:t>
            </a:r>
            <a:endParaRPr lang="en-US" sz="1700" dirty="0"/>
          </a:p>
        </p:txBody>
      </p:sp>
      <p:sp>
        <p:nvSpPr>
          <p:cNvPr id="42" name="Text 33"/>
          <p:cNvSpPr txBox="1"/>
          <p:nvPr/>
        </p:nvSpPr>
        <p:spPr>
          <a:xfrm>
            <a:off x="6336792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no acervo e perguntas com citação de página.</a:t>
            </a:r>
            <a:endParaRPr lang="en-US" sz="1300" dirty="0"/>
          </a:p>
        </p:txBody>
      </p:sp>
      <p:sp>
        <p:nvSpPr>
          <p:cNvPr id="43" name="Shape 34"/>
          <p:cNvSpPr/>
          <p:nvPr/>
        </p:nvSpPr>
        <p:spPr>
          <a:xfrm>
            <a:off x="8887968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44" name="Shape 35"/>
          <p:cNvSpPr/>
          <p:nvPr/>
        </p:nvSpPr>
        <p:spPr>
          <a:xfrm>
            <a:off x="9116568" y="40690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4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6588" y="4229100"/>
            <a:ext cx="320040" cy="32004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9116568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</a:t>
            </a:r>
            <a:endParaRPr lang="en-US" sz="1700" dirty="0"/>
          </a:p>
        </p:txBody>
      </p:sp>
      <p:sp>
        <p:nvSpPr>
          <p:cNvPr id="47" name="Text 37"/>
          <p:cNvSpPr txBox="1"/>
          <p:nvPr/>
        </p:nvSpPr>
        <p:spPr>
          <a:xfrm>
            <a:off x="9116568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Estados, retries, escopo, progresso e trace.</a:t>
            </a:r>
            <a:endParaRPr lang="en-US" sz="1300" dirty="0"/>
          </a:p>
        </p:txBody>
      </p:sp>
      <p:sp>
        <p:nvSpPr>
          <p:cNvPr id="48" name="Text 3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49" name="Text 3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generativa sob controle: guardrails no código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581912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estrito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responde no formato do PolicySchema; o A4 valida e é a autoridade final.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350008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514600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30428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tentativa com os erros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validação falha, o A3 recebe a lista de erros e tenta de novo (até 2×).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282696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447288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3236976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por página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cita página e trecho; citações fora das páginas lidas são descartadas.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4215384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4379976"/>
            <a:ext cx="329184" cy="32918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169664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veredito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"Melhor", "pior" e "recomendada" são bloqueados em A5, A6 e Consulta.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548640" y="5148072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312664"/>
            <a:ext cx="329184" cy="32918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417320" y="510235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sinalizado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de D&amp;O, a análise é marcada como genérica; páginas omitidas são sempre avisadas.</a:t>
            </a:r>
            <a:endParaRPr lang="en-US" sz="1700" dirty="0"/>
          </a:p>
        </p:txBody>
      </p:sp>
      <p:sp>
        <p:nvSpPr>
          <p:cNvPr id="18" name="Shape 11"/>
          <p:cNvSpPr/>
          <p:nvPr/>
        </p:nvSpPr>
        <p:spPr>
          <a:xfrm>
            <a:off x="8275320" y="1417320"/>
            <a:ext cx="3364992" cy="4526280"/>
          </a:xfrm>
          <a:prstGeom prst="roundRect">
            <a:avLst>
              <a:gd name="adj" fmla="val 326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9" name="Text 12"/>
          <p:cNvSpPr txBox="1"/>
          <p:nvPr/>
        </p:nvSpPr>
        <p:spPr>
          <a:xfrm>
            <a:off x="8549640" y="1645920"/>
            <a:ext cx="2834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real</a:t>
            </a:r>
            <a:endParaRPr lang="en-US" sz="14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escreveu "5% do LMI" num campo numérico.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5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A4 rejeitou, devolveu o erro ao A3 e a segunda tentativa foi aceita — sem intervenção humana e registrado no trace.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experiência do analista, do upload à consulta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143000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4" name="Text 2"/>
          <p:cNvSpPr txBox="1"/>
          <p:nvPr/>
        </p:nvSpPr>
        <p:spPr>
          <a:xfrm>
            <a:off x="11430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0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  <p:txBody>
          <a:bodyPr/>
          <a:lstStyle/>
          <a:p>
            <a:endParaRPr lang="en-BR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ou imagem; a tela mostra páginas, tamanho e tempo estimado.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56432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3456432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25112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2862072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862072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agente aparece em tempo real, com estimativa por etapa.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69864" y="1737360"/>
            <a:ext cx="822960" cy="82296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5769864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638544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  <p:txBody>
          <a:bodyPr/>
          <a:lstStyle/>
          <a:p>
            <a:endParaRPr lang="en-BR"/>
          </a:p>
        </p:txBody>
      </p:sp>
      <p:sp>
        <p:nvSpPr>
          <p:cNvPr id="16" name="Text 14"/>
          <p:cNvSpPr txBox="1"/>
          <p:nvPr/>
        </p:nvSpPr>
        <p:spPr>
          <a:xfrm>
            <a:off x="5175504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executiva com páginas; download em MD e PDF.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83296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19" name="Text 17"/>
          <p:cNvSpPr txBox="1"/>
          <p:nvPr/>
        </p:nvSpPr>
        <p:spPr>
          <a:xfrm>
            <a:off x="8083296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8951976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  <p:txBody>
          <a:bodyPr/>
          <a:lstStyle/>
          <a:p>
            <a:endParaRPr lang="en-BR"/>
          </a:p>
        </p:txBody>
      </p:sp>
      <p:sp>
        <p:nvSpPr>
          <p:cNvPr id="21" name="Text 19"/>
          <p:cNvSpPr txBox="1"/>
          <p:nvPr/>
        </p:nvSpPr>
        <p:spPr>
          <a:xfrm>
            <a:off x="7488936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7488936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Trecho de A e de B lado a lado, com página, para cada diferença.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396728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sp>
        <p:nvSpPr>
          <p:cNvPr id="24" name="Text 22"/>
          <p:cNvSpPr txBox="1"/>
          <p:nvPr/>
        </p:nvSpPr>
        <p:spPr>
          <a:xfrm>
            <a:off x="10396728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9802368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802368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de temas no acervo e perguntas com resposta citada.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28" name="Shape 26"/>
          <p:cNvSpPr/>
          <p:nvPr/>
        </p:nvSpPr>
        <p:spPr>
          <a:xfrm>
            <a:off x="822960" y="5001768"/>
            <a:ext cx="731520" cy="73152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5184648"/>
            <a:ext cx="365760" cy="36576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783080" y="4846320"/>
            <a:ext cx="95856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apresentação: </a:t>
            </a: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reabre runs LIVE gravados sem chamar a API — a demonstração não depende de rede. Abas separam a experiência do analista da Auditoria da IA (trace, métricas, JSON).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no Golden Dataset D&amp;O (Chubb × Sompo)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325880"/>
          <a:ext cx="69494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7863840" y="1417320"/>
            <a:ext cx="3776472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5" name="Text 2"/>
          <p:cNvSpPr txBox="1"/>
          <p:nvPr/>
        </p:nvSpPr>
        <p:spPr>
          <a:xfrm>
            <a:off x="8092440" y="15087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 · 11/11</a:t>
            </a:r>
            <a:endParaRPr lang="en-US" sz="2600" dirty="0"/>
          </a:p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anotados extraídos corretamente (Chubb · Sompo)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7863840" y="2880360"/>
            <a:ext cx="3776472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7" name="Text 4"/>
          <p:cNvSpPr txBox="1"/>
          <p:nvPr/>
        </p:nvSpPr>
        <p:spPr>
          <a:xfrm>
            <a:off x="8092440" y="29718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· 5/5</a:t>
            </a:r>
            <a:endParaRPr lang="en-US" sz="2600" dirty="0"/>
          </a:p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citando a página anotada pelo especialista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863840" y="4343400"/>
            <a:ext cx="3776472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9" name="Text 6"/>
          <p:cNvSpPr txBox="1"/>
          <p:nvPr/>
        </p:nvSpPr>
        <p:spPr>
          <a:xfrm>
            <a:off x="8092440" y="44348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 → 1,00</a:t>
            </a:r>
            <a:endParaRPr lang="en-US" sz="2600" dirty="0"/>
          </a:p>
          <a:p>
            <a:pPr marL="0" indent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comparação: divergências da v1.0 confirmadas no texto e revisadas na v1.1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 pequena (2 documentos, 10 itens de comparação); as duas versões do gabarito são reportadas.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que mudaram o resultado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Extração LIVE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834640" y="1463040"/>
            <a:ext cx="3749040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3063240" y="153619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erros</a:t>
            </a:r>
            <a:endParaRPr lang="en-US" sz="3000" dirty="0"/>
          </a:p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schema no 1º teste</a:t>
            </a:r>
            <a:endParaRPr lang="en-US" sz="3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874520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463040"/>
            <a:ext cx="4187952" cy="123444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8" name="Text 5"/>
          <p:cNvSpPr txBox="1"/>
          <p:nvPr/>
        </p:nvSpPr>
        <p:spPr>
          <a:xfrm>
            <a:off x="7680960" y="1536192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1ª tentativa</a:t>
            </a:r>
            <a:endParaRPr lang="en-US" sz="30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com schema estrito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97180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834640" y="2971800"/>
            <a:ext cx="3749040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1" name="Text 8"/>
          <p:cNvSpPr txBox="1"/>
          <p:nvPr/>
        </p:nvSpPr>
        <p:spPr>
          <a:xfrm>
            <a:off x="3063240" y="304495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</a:t>
            </a:r>
            <a:endParaRPr lang="en-US" sz="3000" dirty="0"/>
          </a:p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pareando pelo nome dado pelo LLM</a:t>
            </a:r>
            <a:endParaRPr lang="en-US" sz="3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383280"/>
            <a:ext cx="411480" cy="411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452360" y="2971800"/>
            <a:ext cx="4187952" cy="123444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4" name="Text 10"/>
          <p:cNvSpPr txBox="1"/>
          <p:nvPr/>
        </p:nvSpPr>
        <p:spPr>
          <a:xfrm>
            <a:off x="7680960" y="3044952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</a:t>
            </a:r>
            <a:endParaRPr lang="en-US" sz="30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taxonomia D&amp;O + juiz semântico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480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2834640" y="4480560"/>
            <a:ext cx="3749040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7" name="Text 13"/>
          <p:cNvSpPr txBox="1"/>
          <p:nvPr/>
        </p:nvSpPr>
        <p:spPr>
          <a:xfrm>
            <a:off x="3063240" y="455371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mil</a:t>
            </a:r>
            <a:endParaRPr lang="en-US" sz="3000" dirty="0"/>
          </a:p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caracteres, texto técnico</a:t>
            </a:r>
            <a:endParaRPr lang="en-US" sz="30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892040"/>
            <a:ext cx="411480" cy="4114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452360" y="4480560"/>
            <a:ext cx="4187952" cy="123444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20" name="Text 15"/>
          <p:cNvSpPr txBox="1"/>
          <p:nvPr/>
        </p:nvSpPr>
        <p:spPr>
          <a:xfrm>
            <a:off x="7680960" y="4553712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mil</a:t>
            </a:r>
            <a:endParaRPr lang="en-US" sz="30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caracteres, gerada por IA com páginas</a:t>
            </a:r>
            <a:endParaRPr lang="en-US" sz="3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Robustez: outros ramos, 254 páginas e OCR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3401568"/>
        </p:xfrm>
        <a:graphic>
          <a:graphicData uri="http://schemas.openxmlformats.org/drawingml/2006/table">
            <a:tbl>
              <a:tblPr/>
              <a:tblGrid>
                <a:gridCol w="7635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Cenário LIVE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Verificações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Empresarial PME (254 págs.) × Residencial — limite de tamanho, ramos diferentes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05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Residencial × apólice sintética — limites e franquias em R$ contra gabarito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17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Garantia × Vida — controle negativo de escopo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 43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só imagem × PDF nativo da mesma apólice — OCR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33/33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 40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Imagem PNG × PDF nativo — OCR de imagem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257800"/>
            <a:ext cx="640080" cy="6400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5417820"/>
            <a:ext cx="320040" cy="320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417320" y="5212080"/>
            <a:ext cx="10225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cenários terminaram sem falha. Fora de D&amp;O, o sistema sinaliza escopo genérico; acima de 300 mil caracteres, declara as páginas omitidas.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caso: a mesma organização ao longo do tempo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276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PRODEMGE · contratos de D&amp;O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(digitalizado) × 2025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Seguradora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Ezze → Austral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55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máximo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560320" y="33558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 mi → R$ 40 mi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0142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do contrato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560320" y="401421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R$ 74 mil → R$ 35 mil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672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560320" y="467258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páginas em 1 min 28 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394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conferidos nos documentos originais.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91072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7" name="Shape 14"/>
          <p:cNvSpPr/>
          <p:nvPr/>
        </p:nvSpPr>
        <p:spPr>
          <a:xfrm>
            <a:off x="6565392" y="164592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817370"/>
            <a:ext cx="342900" cy="342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34072" y="16276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Invepar · demonstrações financeiras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DFP 2024 × ITR 2025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565392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Seguradora D&amp;O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Allianz → Berkley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6565392" y="3355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302752" y="33558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R$ 100 mi mantido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565392" y="40142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302752" y="401421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× nota divergem na DFP 2024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565392" y="4672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302752" y="467258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em R$ mil não convertidos</a:t>
            </a:r>
            <a:endParaRPr lang="en-US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6565392" y="5394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secundária: bom teste de sensibilidade e de limites.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ainda não resolvemos — e para onde evoluir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4592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conhecidas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800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 pequeno: 2 documentos anotados.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LLM varia entre execuções (quantidade de itens).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documento = uma apólice; unidades em R$ mil.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de 300 mil caracteres, há omissão (avisada).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modo LIVE, os documentos vão para a API.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91072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9" name="Shape 6"/>
          <p:cNvSpPr/>
          <p:nvPr/>
        </p:nvSpPr>
        <p:spPr>
          <a:xfrm>
            <a:off x="6565392" y="1645920"/>
            <a:ext cx="685800" cy="68580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81737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34072" y="164592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65392" y="2560320"/>
            <a:ext cx="4800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o gabarito (Fator, AXA e HDI já catalogados).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 condições gerais e Especificação da mesma apólice.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com várias apólices e normalização de unidades.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semântica no acervo e comparação de N apólices.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do especialista realimentando o gabarito.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535E0C-94AE-7600-ED31-C3D238643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540" y="643467"/>
            <a:ext cx="8670919" cy="55710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532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914400" cy="91440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  <p:txBody>
          <a:bodyPr/>
          <a:lstStyle/>
          <a:p>
            <a:endParaRPr lang="en-B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430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PROTETOR lê, compara e explica.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34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continua humana — agora com as evidências na mão.</a:t>
            </a:r>
            <a:endParaRPr lang="en-US" sz="2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977640"/>
            <a:ext cx="411480" cy="411480"/>
          </a:xfrm>
          <a:prstGeom prst="rect">
            <a:avLst/>
          </a:prstGeom>
        </p:spPr>
      </p:pic>
      <p:sp>
        <p:nvSpPr>
          <p:cNvPr id="7" name="Text 3">
            <a:hlinkClick r:id="rId5"/>
          </p:cNvPr>
          <p:cNvSpPr txBox="1"/>
          <p:nvPr/>
        </p:nvSpPr>
        <p:spPr>
          <a:xfrm>
            <a:off x="1097280" y="3977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github.com/Georastreador/InsurMinds_Projeto_Final_PROTETOR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Gp_Protetor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Croce · José Carlos dos Passos · Renato Sant Anna · Tiago Del Rio · Juliano Silva Ignacio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899855" y="5806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2002</Words>
  <Application>Microsoft Macintosh PowerPoint</Application>
  <PresentationFormat>Widescreen</PresentationFormat>
  <Paragraphs>222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InsurMinds_PROTETOR — Projeto Final I2A2</dc:title>
  <dc:subject/>
  <dc:creator>Gp_Protetor</dc:creator>
  <cp:keywords/>
  <dc:description>ROC AI</dc:description>
  <cp:lastModifiedBy>Ricardo Croce</cp:lastModifiedBy>
  <cp:revision>3</cp:revision>
  <dcterms:created xsi:type="dcterms:W3CDTF">2026-09-30T22:38:33Z</dcterms:created>
  <dcterms:modified xsi:type="dcterms:W3CDTF">2026-09-30T23:43:32Z</dcterms:modified>
  <cp:category/>
</cp:coreProperties>
</file>